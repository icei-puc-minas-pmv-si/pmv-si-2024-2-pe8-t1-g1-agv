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8288000" cy="10287000"/>
  <p:notesSz cx="6858000" cy="9144000"/>
  <p:embeddedFontLst>
    <p:embeddedFont>
      <p:font typeface="Roboto Slab" pitchFamily="2" charset="0"/>
      <p:regular r:id="rId15"/>
    </p:embeddedFont>
    <p:embeddedFont>
      <p:font typeface="Roboto Slab Bold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 autoAdjust="0"/>
    <p:restoredTop sz="94609" autoAdjust="0"/>
  </p:normalViewPr>
  <p:slideViewPr>
    <p:cSldViewPr>
      <p:cViewPr varScale="1">
        <p:scale>
          <a:sx n="74" d="100"/>
          <a:sy n="74" d="100"/>
        </p:scale>
        <p:origin x="70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30169" y="7407407"/>
            <a:ext cx="1224101" cy="122410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279072" y="1055420"/>
            <a:ext cx="1675774" cy="167577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856697" y="802843"/>
            <a:ext cx="8681313" cy="868131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593989" y="-907041"/>
            <a:ext cx="3924921" cy="392492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38125" cap="sq">
              <a:solidFill>
                <a:srgbClr val="FFBF08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106496" y="3113130"/>
            <a:ext cx="10751944" cy="2668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98"/>
              </a:lnSpc>
            </a:pPr>
            <a:r>
              <a:rPr lang="en-US" sz="9634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ANIVERSO </a:t>
            </a:r>
          </a:p>
          <a:p>
            <a:pPr algn="ctr">
              <a:lnSpc>
                <a:spcPts val="10272"/>
              </a:lnSpc>
            </a:pPr>
            <a:r>
              <a:rPr lang="en-US" sz="9338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AGV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78707" y="6095550"/>
            <a:ext cx="14531439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CLEVERSON</a:t>
            </a:r>
          </a:p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LUIZ</a:t>
            </a:r>
          </a:p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MAITÊ</a:t>
            </a:r>
          </a:p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THAINARA</a:t>
            </a:r>
          </a:p>
          <a:p>
            <a:pPr algn="ctr">
              <a:lnSpc>
                <a:spcPts val="2640"/>
              </a:lnSpc>
            </a:pPr>
            <a:endParaRPr lang="en-US" sz="24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28040" y="258079"/>
            <a:ext cx="11077733" cy="10287000"/>
            <a:chOff x="0" y="0"/>
            <a:chExt cx="14770311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1947" b="1947"/>
            <a:stretch>
              <a:fillRect/>
            </a:stretch>
          </p:blipFill>
          <p:spPr>
            <a:xfrm>
              <a:off x="0" y="0"/>
              <a:ext cx="14770311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9380762" y="1692342"/>
            <a:ext cx="7418473" cy="74184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970263" y="1286779"/>
            <a:ext cx="7418473" cy="74184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5844567" y="7596168"/>
            <a:ext cx="2405333" cy="1828053"/>
          </a:xfrm>
          <a:custGeom>
            <a:avLst/>
            <a:gdLst/>
            <a:ahLst/>
            <a:cxnLst/>
            <a:rect l="l" t="t" r="r" b="b"/>
            <a:pathLst>
              <a:path w="2405333" h="1828053">
                <a:moveTo>
                  <a:pt x="2405333" y="0"/>
                </a:moveTo>
                <a:lnTo>
                  <a:pt x="0" y="0"/>
                </a:lnTo>
                <a:lnTo>
                  <a:pt x="0" y="1828053"/>
                </a:lnTo>
                <a:lnTo>
                  <a:pt x="2405333" y="1828053"/>
                </a:lnTo>
                <a:lnTo>
                  <a:pt x="240533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9772531" y="3464078"/>
            <a:ext cx="6072037" cy="4070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Universo AGV, uma associação de proteção veicular.</a:t>
            </a:r>
          </a:p>
          <a:p>
            <a:pPr algn="l">
              <a:lnSpc>
                <a:spcPts val="4056"/>
              </a:lnSpc>
            </a:pPr>
            <a:endParaRPr lang="en-US" sz="24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056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Alinhamento da  TI aos objetivos estratégicos da organização.</a:t>
            </a:r>
          </a:p>
          <a:p>
            <a:pPr algn="l">
              <a:lnSpc>
                <a:spcPts val="4056"/>
              </a:lnSpc>
            </a:pPr>
            <a:endParaRPr lang="en-US" sz="24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>
              <a:lnSpc>
                <a:spcPts val="4056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Soluções para melhorar integração, decisões e eficiência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72531" y="1832774"/>
            <a:ext cx="6240754" cy="1077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19"/>
              </a:lnSpc>
              <a:spcBef>
                <a:spcPct val="0"/>
              </a:spcBef>
            </a:pPr>
            <a:r>
              <a:rPr lang="en-US" sz="3835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VISÃO GERAL DO PROJETO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88870" y="802843"/>
            <a:ext cx="8681313" cy="86813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290704" y="-907041"/>
            <a:ext cx="3924921" cy="392492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38125" cap="sq">
              <a:solidFill>
                <a:srgbClr val="FFBF08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60685" y="4300856"/>
            <a:ext cx="1906905" cy="190690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84088" y="4300856"/>
            <a:ext cx="1906905" cy="190690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07491" y="4300856"/>
            <a:ext cx="1906905" cy="190690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730894" y="4300856"/>
            <a:ext cx="1906905" cy="190690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2823888" y="4757739"/>
            <a:ext cx="980499" cy="993139"/>
          </a:xfrm>
          <a:custGeom>
            <a:avLst/>
            <a:gdLst/>
            <a:ahLst/>
            <a:cxnLst/>
            <a:rect l="l" t="t" r="r" b="b"/>
            <a:pathLst>
              <a:path w="980499" h="993139">
                <a:moveTo>
                  <a:pt x="0" y="0"/>
                </a:moveTo>
                <a:lnTo>
                  <a:pt x="980499" y="0"/>
                </a:lnTo>
                <a:lnTo>
                  <a:pt x="980499" y="993139"/>
                </a:lnTo>
                <a:lnTo>
                  <a:pt x="0" y="993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1" name="Freeform 21"/>
          <p:cNvSpPr/>
          <p:nvPr/>
        </p:nvSpPr>
        <p:spPr>
          <a:xfrm>
            <a:off x="6945485" y="4756408"/>
            <a:ext cx="1023581" cy="1032971"/>
          </a:xfrm>
          <a:custGeom>
            <a:avLst/>
            <a:gdLst/>
            <a:ahLst/>
            <a:cxnLst/>
            <a:rect l="l" t="t" r="r" b="b"/>
            <a:pathLst>
              <a:path w="1023581" h="1032971">
                <a:moveTo>
                  <a:pt x="0" y="0"/>
                </a:moveTo>
                <a:lnTo>
                  <a:pt x="1023581" y="0"/>
                </a:lnTo>
                <a:lnTo>
                  <a:pt x="1023581" y="1032972"/>
                </a:lnTo>
                <a:lnTo>
                  <a:pt x="0" y="1032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2" name="Freeform 22"/>
          <p:cNvSpPr/>
          <p:nvPr/>
        </p:nvSpPr>
        <p:spPr>
          <a:xfrm>
            <a:off x="11031650" y="4757739"/>
            <a:ext cx="1058587" cy="1031641"/>
          </a:xfrm>
          <a:custGeom>
            <a:avLst/>
            <a:gdLst/>
            <a:ahLst/>
            <a:cxnLst/>
            <a:rect l="l" t="t" r="r" b="b"/>
            <a:pathLst>
              <a:path w="1058587" h="1031641">
                <a:moveTo>
                  <a:pt x="0" y="0"/>
                </a:moveTo>
                <a:lnTo>
                  <a:pt x="1058587" y="0"/>
                </a:lnTo>
                <a:lnTo>
                  <a:pt x="1058587" y="1031641"/>
                </a:lnTo>
                <a:lnTo>
                  <a:pt x="0" y="10316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3" name="Freeform 23"/>
          <p:cNvSpPr/>
          <p:nvPr/>
        </p:nvSpPr>
        <p:spPr>
          <a:xfrm>
            <a:off x="15320343" y="4679016"/>
            <a:ext cx="728006" cy="1150585"/>
          </a:xfrm>
          <a:custGeom>
            <a:avLst/>
            <a:gdLst/>
            <a:ahLst/>
            <a:cxnLst/>
            <a:rect l="l" t="t" r="r" b="b"/>
            <a:pathLst>
              <a:path w="728006" h="1150585">
                <a:moveTo>
                  <a:pt x="0" y="0"/>
                </a:moveTo>
                <a:lnTo>
                  <a:pt x="728006" y="0"/>
                </a:lnTo>
                <a:lnTo>
                  <a:pt x="728006" y="1150585"/>
                </a:lnTo>
                <a:lnTo>
                  <a:pt x="0" y="11505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4" name="TextBox 24"/>
          <p:cNvSpPr txBox="1"/>
          <p:nvPr/>
        </p:nvSpPr>
        <p:spPr>
          <a:xfrm>
            <a:off x="2049050" y="1602718"/>
            <a:ext cx="8870075" cy="190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74"/>
              </a:lnSpc>
              <a:spcBef>
                <a:spcPct val="0"/>
              </a:spcBef>
            </a:pPr>
            <a:r>
              <a:rPr lang="en-US" sz="6795" b="1" u="none" strike="noStrik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ANÁLISE </a:t>
            </a:r>
          </a:p>
          <a:p>
            <a:pPr marL="0" lvl="0" indent="0" algn="l">
              <a:lnSpc>
                <a:spcPts val="7474"/>
              </a:lnSpc>
              <a:spcBef>
                <a:spcPct val="0"/>
              </a:spcBef>
            </a:pPr>
            <a:r>
              <a:rPr lang="en-US" sz="6795" b="1" u="none" strike="noStrik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SWOT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09392" y="6373014"/>
            <a:ext cx="3149908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0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AMEAÇAS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1786" y="6373014"/>
            <a:ext cx="3924702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0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PONTOS FORTES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58875" y="6373014"/>
            <a:ext cx="400413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0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OPORTUNIDADES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62599" y="6373014"/>
            <a:ext cx="3749883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0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PONTOS FRACOS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02819" y="7851294"/>
            <a:ext cx="16512113" cy="2012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Através da análise identificamos alguns pontos: Exp</a:t>
            </a:r>
            <a:r>
              <a:rPr lang="en-US" sz="2400" u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ansão para novos mercados e segmentos, como veículos elétricos; Desenvolvimento de novos produtos e serviços, incluindo aplicativos móveis e plataformas online para gestão de sinistros. Estabelecimento de parcerias estratégicas com outras empresas do setor automotivo.</a:t>
            </a:r>
          </a:p>
          <a:p>
            <a:pPr marL="0" lvl="0" indent="0" algn="ctr">
              <a:lnSpc>
                <a:spcPts val="4056"/>
              </a:lnSpc>
              <a:spcBef>
                <a:spcPct val="0"/>
              </a:spcBef>
            </a:pPr>
            <a:endParaRPr lang="en-US" sz="2400" u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835083" y="-3216807"/>
            <a:ext cx="9827112" cy="982711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201579" y="2083038"/>
            <a:ext cx="11529174" cy="6917504"/>
          </a:xfrm>
          <a:custGeom>
            <a:avLst/>
            <a:gdLst/>
            <a:ahLst/>
            <a:cxnLst/>
            <a:rect l="l" t="t" r="r" b="b"/>
            <a:pathLst>
              <a:path w="11529174" h="6917504">
                <a:moveTo>
                  <a:pt x="0" y="0"/>
                </a:moveTo>
                <a:lnTo>
                  <a:pt x="11529174" y="0"/>
                </a:lnTo>
                <a:lnTo>
                  <a:pt x="11529174" y="6917505"/>
                </a:lnTo>
                <a:lnTo>
                  <a:pt x="0" y="69175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6" name="Group 6"/>
          <p:cNvGrpSpPr/>
          <p:nvPr/>
        </p:nvGrpSpPr>
        <p:grpSpPr>
          <a:xfrm>
            <a:off x="1429834" y="1859844"/>
            <a:ext cx="7584393" cy="7418473"/>
            <a:chOff x="0" y="0"/>
            <a:chExt cx="830979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30979" cy="812800"/>
            </a:xfrm>
            <a:custGeom>
              <a:avLst/>
              <a:gdLst/>
              <a:ahLst/>
              <a:cxnLst/>
              <a:rect l="l" t="t" r="r" b="b"/>
              <a:pathLst>
                <a:path w="830979" h="812800">
                  <a:moveTo>
                    <a:pt x="0" y="0"/>
                  </a:moveTo>
                  <a:lnTo>
                    <a:pt x="830979" y="0"/>
                  </a:lnTo>
                  <a:lnTo>
                    <a:pt x="83097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830979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1434264"/>
            <a:ext cx="7584393" cy="7418473"/>
            <a:chOff x="0" y="0"/>
            <a:chExt cx="830979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30979" cy="812800"/>
            </a:xfrm>
            <a:custGeom>
              <a:avLst/>
              <a:gdLst/>
              <a:ahLst/>
              <a:cxnLst/>
              <a:rect l="l" t="t" r="r" b="b"/>
              <a:pathLst>
                <a:path w="830979" h="812800">
                  <a:moveTo>
                    <a:pt x="0" y="0"/>
                  </a:moveTo>
                  <a:lnTo>
                    <a:pt x="830979" y="0"/>
                  </a:lnTo>
                  <a:lnTo>
                    <a:pt x="83097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830979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47855" y="609276"/>
            <a:ext cx="838848" cy="83884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44998" y="3982779"/>
            <a:ext cx="833475" cy="416737"/>
            <a:chOff x="0" y="0"/>
            <a:chExt cx="812800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7800" y="-95250"/>
              <a:ext cx="558800" cy="50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44998" y="4726763"/>
            <a:ext cx="833475" cy="416737"/>
            <a:chOff x="0" y="0"/>
            <a:chExt cx="812800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800" y="-95250"/>
              <a:ext cx="558800" cy="50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44998" y="5467350"/>
            <a:ext cx="833475" cy="416737"/>
            <a:chOff x="0" y="0"/>
            <a:chExt cx="812800" cy="406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7800" y="-95250"/>
              <a:ext cx="558800" cy="50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44998" y="6207937"/>
            <a:ext cx="833475" cy="416737"/>
            <a:chOff x="0" y="0"/>
            <a:chExt cx="812800" cy="406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7800" y="-95250"/>
              <a:ext cx="558800" cy="50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44998" y="6948525"/>
            <a:ext cx="833475" cy="416737"/>
            <a:chOff x="0" y="0"/>
            <a:chExt cx="812800" cy="406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7800" y="-95250"/>
              <a:ext cx="558800" cy="50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44998" y="7689112"/>
            <a:ext cx="833475" cy="416737"/>
            <a:chOff x="0" y="0"/>
            <a:chExt cx="812800" cy="406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7800" y="-95250"/>
              <a:ext cx="558800" cy="50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290787" y="3903874"/>
            <a:ext cx="1961793" cy="469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6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APVS Brasil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8700" y="1505274"/>
            <a:ext cx="7584393" cy="1716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41"/>
              </a:lnSpc>
              <a:spcBef>
                <a:spcPct val="0"/>
              </a:spcBef>
            </a:pPr>
            <a:r>
              <a:rPr lang="en-US" sz="6128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PRINCIPAIS CONCORRENTES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90787" y="4647857"/>
            <a:ext cx="1961793" cy="469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6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Auto Truck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290787" y="5393855"/>
            <a:ext cx="1961793" cy="469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6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Porto Real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290787" y="6154902"/>
            <a:ext cx="1961793" cy="469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6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Porto Seguro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290787" y="6843750"/>
            <a:ext cx="1961793" cy="469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6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Tokio Marine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290787" y="7551648"/>
            <a:ext cx="1961793" cy="469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6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HDI Seguros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40657" y="1867548"/>
            <a:ext cx="8681313" cy="86813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1103" y="1434264"/>
            <a:ext cx="7418473" cy="74184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198526" y="-933761"/>
            <a:ext cx="3924921" cy="392492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38125" cap="sq">
              <a:solidFill>
                <a:srgbClr val="FFBF08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809211" y="-603021"/>
            <a:ext cx="4967219" cy="11216898"/>
            <a:chOff x="0" y="0"/>
            <a:chExt cx="2117230" cy="47810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17230" cy="4781095"/>
            </a:xfrm>
            <a:custGeom>
              <a:avLst/>
              <a:gdLst/>
              <a:ahLst/>
              <a:cxnLst/>
              <a:rect l="l" t="t" r="r" b="b"/>
              <a:pathLst>
                <a:path w="2117230" h="4781095">
                  <a:moveTo>
                    <a:pt x="0" y="0"/>
                  </a:moveTo>
                  <a:lnTo>
                    <a:pt x="2117230" y="0"/>
                  </a:lnTo>
                  <a:lnTo>
                    <a:pt x="2117230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2117230" cy="487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968670" y="1028700"/>
            <a:ext cx="5324150" cy="8229600"/>
            <a:chOff x="0" y="0"/>
            <a:chExt cx="7098866" cy="10972800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2"/>
            <a:srcRect l="11548" r="11548"/>
            <a:stretch>
              <a:fillRect/>
            </a:stretch>
          </p:blipFill>
          <p:spPr>
            <a:xfrm>
              <a:off x="0" y="0"/>
              <a:ext cx="7098866" cy="10972800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15680529" y="399391"/>
            <a:ext cx="1468157" cy="146815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726395" y="4007745"/>
            <a:ext cx="917567" cy="486310"/>
          </a:xfrm>
          <a:custGeom>
            <a:avLst/>
            <a:gdLst/>
            <a:ahLst/>
            <a:cxnLst/>
            <a:rect l="l" t="t" r="r" b="b"/>
            <a:pathLst>
              <a:path w="917567" h="486310">
                <a:moveTo>
                  <a:pt x="0" y="0"/>
                </a:moveTo>
                <a:lnTo>
                  <a:pt x="917567" y="0"/>
                </a:lnTo>
                <a:lnTo>
                  <a:pt x="917567" y="486311"/>
                </a:lnTo>
                <a:lnTo>
                  <a:pt x="0" y="4863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0" name="TextBox 20"/>
          <p:cNvSpPr txBox="1"/>
          <p:nvPr/>
        </p:nvSpPr>
        <p:spPr>
          <a:xfrm>
            <a:off x="2817540" y="3963626"/>
            <a:ext cx="6072037" cy="469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6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Gargalos no atendimento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1971" y="1730911"/>
            <a:ext cx="7417605" cy="164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81"/>
              </a:lnSpc>
              <a:spcBef>
                <a:spcPct val="0"/>
              </a:spcBef>
            </a:pPr>
            <a:r>
              <a:rPr lang="en-US" sz="3892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OTIMIZAÇÃO DOS PROCESSOS DE ATENDIMENTO AO CLIENTE</a:t>
            </a:r>
          </a:p>
        </p:txBody>
      </p:sp>
      <p:sp>
        <p:nvSpPr>
          <p:cNvPr id="22" name="Freeform 22"/>
          <p:cNvSpPr/>
          <p:nvPr/>
        </p:nvSpPr>
        <p:spPr>
          <a:xfrm>
            <a:off x="1726395" y="5005427"/>
            <a:ext cx="917567" cy="486310"/>
          </a:xfrm>
          <a:custGeom>
            <a:avLst/>
            <a:gdLst/>
            <a:ahLst/>
            <a:cxnLst/>
            <a:rect l="l" t="t" r="r" b="b"/>
            <a:pathLst>
              <a:path w="917567" h="486310">
                <a:moveTo>
                  <a:pt x="0" y="0"/>
                </a:moveTo>
                <a:lnTo>
                  <a:pt x="917567" y="0"/>
                </a:lnTo>
                <a:lnTo>
                  <a:pt x="917567" y="486311"/>
                </a:lnTo>
                <a:lnTo>
                  <a:pt x="0" y="4863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3" name="TextBox 23"/>
          <p:cNvSpPr txBox="1"/>
          <p:nvPr/>
        </p:nvSpPr>
        <p:spPr>
          <a:xfrm>
            <a:off x="2817540" y="4704134"/>
            <a:ext cx="5773527" cy="984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6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Medir a satisfação dos associados em relação ao atendimento</a:t>
            </a:r>
          </a:p>
        </p:txBody>
      </p:sp>
      <p:sp>
        <p:nvSpPr>
          <p:cNvPr id="24" name="Freeform 24"/>
          <p:cNvSpPr/>
          <p:nvPr/>
        </p:nvSpPr>
        <p:spPr>
          <a:xfrm>
            <a:off x="1726395" y="6404724"/>
            <a:ext cx="917567" cy="486310"/>
          </a:xfrm>
          <a:custGeom>
            <a:avLst/>
            <a:gdLst/>
            <a:ahLst/>
            <a:cxnLst/>
            <a:rect l="l" t="t" r="r" b="b"/>
            <a:pathLst>
              <a:path w="917567" h="486310">
                <a:moveTo>
                  <a:pt x="0" y="0"/>
                </a:moveTo>
                <a:lnTo>
                  <a:pt x="917567" y="0"/>
                </a:lnTo>
                <a:lnTo>
                  <a:pt x="917567" y="486310"/>
                </a:lnTo>
                <a:lnTo>
                  <a:pt x="0" y="4863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TextBox 25"/>
          <p:cNvSpPr txBox="1"/>
          <p:nvPr/>
        </p:nvSpPr>
        <p:spPr>
          <a:xfrm>
            <a:off x="2817540" y="6103430"/>
            <a:ext cx="6072037" cy="984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6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Tempo médio de resposta e resolução de chamados no atendimento</a:t>
            </a:r>
          </a:p>
        </p:txBody>
      </p:sp>
      <p:sp>
        <p:nvSpPr>
          <p:cNvPr id="26" name="Freeform 26"/>
          <p:cNvSpPr/>
          <p:nvPr/>
        </p:nvSpPr>
        <p:spPr>
          <a:xfrm>
            <a:off x="1726395" y="7805434"/>
            <a:ext cx="917567" cy="486310"/>
          </a:xfrm>
          <a:custGeom>
            <a:avLst/>
            <a:gdLst/>
            <a:ahLst/>
            <a:cxnLst/>
            <a:rect l="l" t="t" r="r" b="b"/>
            <a:pathLst>
              <a:path w="917567" h="486310">
                <a:moveTo>
                  <a:pt x="0" y="0"/>
                </a:moveTo>
                <a:lnTo>
                  <a:pt x="917567" y="0"/>
                </a:lnTo>
                <a:lnTo>
                  <a:pt x="917567" y="486311"/>
                </a:lnTo>
                <a:lnTo>
                  <a:pt x="0" y="4863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7" name="TextBox 27"/>
          <p:cNvSpPr txBox="1"/>
          <p:nvPr/>
        </p:nvSpPr>
        <p:spPr>
          <a:xfrm>
            <a:off x="2817540" y="7506653"/>
            <a:ext cx="6072037" cy="984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6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Análises de mercado sobre ferramentas de atendimento ao cliente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635066" y="368374"/>
            <a:ext cx="1050320" cy="19476059"/>
            <a:chOff x="0" y="0"/>
            <a:chExt cx="447689" cy="83014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689" cy="8301484"/>
            </a:xfrm>
            <a:custGeom>
              <a:avLst/>
              <a:gdLst/>
              <a:ahLst/>
              <a:cxnLst/>
              <a:rect l="l" t="t" r="r" b="b"/>
              <a:pathLst>
                <a:path w="447689" h="8301484">
                  <a:moveTo>
                    <a:pt x="0" y="0"/>
                  </a:moveTo>
                  <a:lnTo>
                    <a:pt x="447689" y="0"/>
                  </a:lnTo>
                  <a:lnTo>
                    <a:pt x="447689" y="8301484"/>
                  </a:lnTo>
                  <a:lnTo>
                    <a:pt x="0" y="8301484"/>
                  </a:ln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447689" cy="8396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>
            <a:off x="4957194" y="4185803"/>
            <a:ext cx="0" cy="89741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AutoShape 6"/>
          <p:cNvSpPr/>
          <p:nvPr/>
        </p:nvSpPr>
        <p:spPr>
          <a:xfrm flipH="1">
            <a:off x="8901780" y="4185803"/>
            <a:ext cx="0" cy="89741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AutoShape 7"/>
          <p:cNvSpPr/>
          <p:nvPr/>
        </p:nvSpPr>
        <p:spPr>
          <a:xfrm flipH="1">
            <a:off x="12915221" y="4185803"/>
            <a:ext cx="0" cy="89741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/>
          <p:cNvSpPr/>
          <p:nvPr/>
        </p:nvSpPr>
        <p:spPr>
          <a:xfrm>
            <a:off x="2903477" y="5064162"/>
            <a:ext cx="1251349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pt-BR"/>
          </a:p>
        </p:txBody>
      </p:sp>
      <p:grpSp>
        <p:nvGrpSpPr>
          <p:cNvPr id="9" name="Group 9"/>
          <p:cNvGrpSpPr/>
          <p:nvPr/>
        </p:nvGrpSpPr>
        <p:grpSpPr>
          <a:xfrm>
            <a:off x="3854829" y="2328324"/>
            <a:ext cx="2145883" cy="214588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32238" y="2328324"/>
            <a:ext cx="2145883" cy="214588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809647" y="2328324"/>
            <a:ext cx="2145883" cy="214588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395658" y="429900"/>
            <a:ext cx="12278129" cy="126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62"/>
              </a:lnSpc>
              <a:spcBef>
                <a:spcPct val="0"/>
              </a:spcBef>
            </a:pPr>
            <a:r>
              <a:rPr lang="en-US" sz="6420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PESQUISA DE S</a:t>
            </a:r>
            <a:r>
              <a:rPr lang="en-US" sz="6420" b="1" u="none" strike="noStrik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OLUÇÕES DE SI</a:t>
            </a:r>
          </a:p>
          <a:p>
            <a:pPr marL="0" lvl="0" indent="0" algn="ctr">
              <a:lnSpc>
                <a:spcPts val="2994"/>
              </a:lnSpc>
              <a:spcBef>
                <a:spcPct val="0"/>
              </a:spcBef>
            </a:pPr>
            <a:endParaRPr lang="en-US" sz="6420" b="1" u="none" strike="noStrike">
              <a:solidFill>
                <a:srgbClr val="000000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840203" y="6154420"/>
            <a:ext cx="2125135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6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Alto custo;</a:t>
            </a:r>
          </a:p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-6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Treinamento.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32238" y="6154420"/>
            <a:ext cx="2125135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6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Possui custo por licença;</a:t>
            </a:r>
          </a:p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-6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Personalização complexa.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01265" y="6091781"/>
            <a:ext cx="2125135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-6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Exige a imputação de dados e ou a integração com outros sistemas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6786" y="8456295"/>
            <a:ext cx="17454429" cy="5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UTILIZAR COMPUTAÇÃO EM NUVEM, POIS DEPOIS DE IMPLEMENTADO A NECESSIDADE DE UMA ALTERAÇÃO MAIS TÉCNICA É PEQUENA.</a:t>
            </a:r>
          </a:p>
          <a:p>
            <a:pPr marL="0" lvl="0" indent="0" algn="ctr">
              <a:lnSpc>
                <a:spcPts val="22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ELIMINANDO O CUSTO DE INFRA. ALÉM DE FACILITAR A IMPLEMENTAÇÃO DE NOVAS FUNCIONALIDADES E ATUALIZAÇÕES.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146826" y="5416739"/>
            <a:ext cx="3582636" cy="66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(ERP): SAP S/4HANA CLOUD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74098" y="5581596"/>
            <a:ext cx="3582636" cy="33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POWER BI (BI)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10462" y="5581596"/>
            <a:ext cx="3582636" cy="33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SALESFORCE CRM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01714" y="2663708"/>
            <a:ext cx="2063623" cy="1453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6"/>
              </a:lnSpc>
            </a:pPr>
            <a:r>
              <a:rPr lang="en-US" sz="10106" b="1">
                <a:solidFill>
                  <a:srgbClr val="F8F8F8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74731" y="2663708"/>
            <a:ext cx="2063623" cy="1453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6"/>
              </a:lnSpc>
            </a:pPr>
            <a:r>
              <a:rPr lang="en-US" sz="10106" b="1">
                <a:solidFill>
                  <a:srgbClr val="F8F8F8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864360" y="2663708"/>
            <a:ext cx="2063623" cy="1453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6"/>
              </a:lnSpc>
            </a:pPr>
            <a:r>
              <a:rPr lang="en-US" sz="10106" b="1">
                <a:solidFill>
                  <a:srgbClr val="F8F8F8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98526" y="3656731"/>
            <a:ext cx="9731218" cy="97312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617021" y="-1332367"/>
            <a:ext cx="7206548" cy="7206519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t="-17657" b="-32437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34059" y="953985"/>
            <a:ext cx="7893905" cy="109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2"/>
              </a:lnSpc>
              <a:spcBef>
                <a:spcPct val="0"/>
              </a:spcBef>
            </a:pPr>
            <a:r>
              <a:rPr lang="en-US" sz="7638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93606" y="-1038532"/>
            <a:ext cx="8681313" cy="86813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38787" y="-1921001"/>
            <a:ext cx="3924921" cy="392492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38125" cap="sq">
              <a:solidFill>
                <a:srgbClr val="FFBF08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230013" y="2361421"/>
            <a:ext cx="9195838" cy="6896879"/>
          </a:xfrm>
          <a:custGeom>
            <a:avLst/>
            <a:gdLst/>
            <a:ahLst/>
            <a:cxnLst/>
            <a:rect l="l" t="t" r="r" b="b"/>
            <a:pathLst>
              <a:path w="9195838" h="6896879">
                <a:moveTo>
                  <a:pt x="0" y="0"/>
                </a:moveTo>
                <a:lnTo>
                  <a:pt x="9195839" y="0"/>
                </a:lnTo>
                <a:lnTo>
                  <a:pt x="9195839" y="6896879"/>
                </a:lnTo>
                <a:lnTo>
                  <a:pt x="0" y="6896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9144000" y="2361421"/>
            <a:ext cx="9195838" cy="6896879"/>
          </a:xfrm>
          <a:custGeom>
            <a:avLst/>
            <a:gdLst/>
            <a:ahLst/>
            <a:cxnLst/>
            <a:rect l="l" t="t" r="r" b="b"/>
            <a:pathLst>
              <a:path w="9195838" h="6896879">
                <a:moveTo>
                  <a:pt x="0" y="0"/>
                </a:moveTo>
                <a:lnTo>
                  <a:pt x="9195838" y="0"/>
                </a:lnTo>
                <a:lnTo>
                  <a:pt x="9195838" y="6896879"/>
                </a:lnTo>
                <a:lnTo>
                  <a:pt x="0" y="6896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93123" y="6589200"/>
            <a:ext cx="4538585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9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Criação de um espaço no site para um futuro cliente realizar o seu autoatendimento.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744424" y="-1818500"/>
            <a:ext cx="8681313" cy="868131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038787" y="-1921001"/>
            <a:ext cx="3924921" cy="392492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38125" cap="sq">
              <a:solidFill>
                <a:srgbClr val="FFBF08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223752" y="6589200"/>
            <a:ext cx="4575457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9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Registrar vistorias, aberturas de chamados, verificação do andamento do sinistro, etc.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57997" y="6868067"/>
            <a:ext cx="4317358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9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Implementação de uma cargo de TO e até uma possível área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7997" y="1962856"/>
            <a:ext cx="8870075" cy="962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74"/>
              </a:lnSpc>
              <a:spcBef>
                <a:spcPct val="0"/>
              </a:spcBef>
            </a:pPr>
            <a:r>
              <a:rPr lang="en-US" sz="6795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PLANOS 3 A 5 ANOS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60131" y="4079628"/>
            <a:ext cx="1906905" cy="190690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93123" y="4079628"/>
            <a:ext cx="1906905" cy="190690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223752" y="4079628"/>
            <a:ext cx="1906905" cy="190690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660131" y="6151787"/>
            <a:ext cx="3924702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4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CRIAÇÃO DE UM TO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93123" y="6151787"/>
            <a:ext cx="3924702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4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Cliente prospect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23752" y="6151787"/>
            <a:ext cx="4440900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4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App Mobile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66528" y="3466249"/>
            <a:ext cx="2772466" cy="1944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35"/>
              </a:lnSpc>
            </a:pPr>
            <a:r>
              <a:rPr lang="en-US" sz="13577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99520" y="3466249"/>
            <a:ext cx="2772466" cy="1944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35"/>
              </a:lnSpc>
            </a:pPr>
            <a:r>
              <a:rPr lang="en-US" sz="13577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744424" y="3466249"/>
            <a:ext cx="2772466" cy="1944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35"/>
              </a:lnSpc>
            </a:pPr>
            <a:r>
              <a:rPr lang="en-US" sz="13577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80374" y="8699360"/>
            <a:ext cx="896653" cy="896653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39948" y="-2273338"/>
            <a:ext cx="8681313" cy="86813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1028700"/>
            <a:ext cx="18064571" cy="6098138"/>
          </a:xfrm>
          <a:custGeom>
            <a:avLst/>
            <a:gdLst/>
            <a:ahLst/>
            <a:cxnLst/>
            <a:rect l="l" t="t" r="r" b="b"/>
            <a:pathLst>
              <a:path w="18064571" h="6098138">
                <a:moveTo>
                  <a:pt x="0" y="0"/>
                </a:moveTo>
                <a:lnTo>
                  <a:pt x="18064571" y="0"/>
                </a:lnTo>
                <a:lnTo>
                  <a:pt x="18064571" y="6098138"/>
                </a:lnTo>
                <a:lnTo>
                  <a:pt x="0" y="609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469" b="-6469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6" name="Group 6"/>
          <p:cNvGrpSpPr/>
          <p:nvPr/>
        </p:nvGrpSpPr>
        <p:grpSpPr>
          <a:xfrm>
            <a:off x="9621280" y="2562503"/>
            <a:ext cx="8315382" cy="4072927"/>
            <a:chOff x="0" y="0"/>
            <a:chExt cx="3172227" cy="15537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72227" cy="1553777"/>
            </a:xfrm>
            <a:custGeom>
              <a:avLst/>
              <a:gdLst/>
              <a:ahLst/>
              <a:cxnLst/>
              <a:rect l="l" t="t" r="r" b="b"/>
              <a:pathLst>
                <a:path w="3172227" h="1553777">
                  <a:moveTo>
                    <a:pt x="0" y="0"/>
                  </a:moveTo>
                  <a:lnTo>
                    <a:pt x="3172227" y="0"/>
                  </a:lnTo>
                  <a:lnTo>
                    <a:pt x="3172227" y="1553777"/>
                  </a:lnTo>
                  <a:lnTo>
                    <a:pt x="0" y="1553777"/>
                  </a:lnTo>
                  <a:close/>
                </a:path>
              </a:pathLst>
            </a:custGeom>
            <a:solidFill>
              <a:srgbClr val="052A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3172227" cy="1649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375816" y="5885849"/>
            <a:ext cx="2130598" cy="213059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078701" y="5885849"/>
            <a:ext cx="2130598" cy="213059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97909" y="5885849"/>
            <a:ext cx="2130598" cy="2130598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332535" y="314119"/>
            <a:ext cx="13622929" cy="1467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43"/>
              </a:lnSpc>
            </a:pPr>
            <a:r>
              <a:rPr lang="en-US" sz="4767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AVALIAÇÃO DE IMPACTO E GESTÃO CONTÍNUA DE TI </a:t>
            </a:r>
          </a:p>
          <a:p>
            <a:pPr marL="0" lvl="0" indent="0" algn="ctr">
              <a:lnSpc>
                <a:spcPts val="1124"/>
              </a:lnSpc>
              <a:spcBef>
                <a:spcPct val="0"/>
              </a:spcBef>
            </a:pPr>
            <a:endParaRPr lang="en-US" sz="4767" b="1">
              <a:solidFill>
                <a:srgbClr val="000000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28700" y="8328134"/>
            <a:ext cx="4096396" cy="157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54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APO: Alinhar, Planejar e Organizar;</a:t>
            </a:r>
          </a:p>
          <a:p>
            <a:pPr algn="l">
              <a:lnSpc>
                <a:spcPts val="2520"/>
              </a:lnSpc>
            </a:pPr>
            <a:r>
              <a:rPr lang="en-US" sz="1800" spc="-54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CAI: Construir, Adquirir e Implementar;</a:t>
            </a:r>
          </a:p>
          <a:p>
            <a:pPr algn="l">
              <a:lnSpc>
                <a:spcPts val="2520"/>
              </a:lnSpc>
            </a:pPr>
            <a:r>
              <a:rPr lang="en-US" sz="1800" spc="-54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ESS: Entregar, Servir e Suportar;</a:t>
            </a:r>
          </a:p>
          <a:p>
            <a:pPr algn="l">
              <a:lnSpc>
                <a:spcPts val="2520"/>
              </a:lnSpc>
            </a:pPr>
            <a:r>
              <a:rPr lang="en-US" sz="1800" spc="-54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MAA: Monitorar, Analisar e Avaliar.</a:t>
            </a:r>
          </a:p>
          <a:p>
            <a:pPr marL="0" lvl="0" indent="0" algn="l">
              <a:lnSpc>
                <a:spcPts val="2520"/>
              </a:lnSpc>
            </a:pPr>
            <a:endParaRPr lang="en-US" sz="1800" spc="-54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622929" y="8201360"/>
            <a:ext cx="3636371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</a:pPr>
            <a:r>
              <a:rPr lang="en-US" sz="2000" spc="-6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Fortalecer as políticas de segurança, protegendo os dados dos clientes e promoção de boas práticas para evitar fraudes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61290" y="8328134"/>
            <a:ext cx="376542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</a:pPr>
            <a:r>
              <a:rPr lang="en-US" sz="2000" spc="-6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Responsabilidade;</a:t>
            </a:r>
          </a:p>
          <a:p>
            <a:pPr marL="0" lvl="0" indent="0" algn="ctr">
              <a:lnSpc>
                <a:spcPts val="2800"/>
              </a:lnSpc>
            </a:pPr>
            <a:r>
              <a:rPr lang="en-US" sz="2000" spc="-6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Estratégia;</a:t>
            </a:r>
          </a:p>
          <a:p>
            <a:pPr marL="0" lvl="0" indent="0" algn="ctr">
              <a:lnSpc>
                <a:spcPts val="2800"/>
              </a:lnSpc>
            </a:pPr>
            <a:r>
              <a:rPr lang="en-US" sz="2000" spc="-6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Aquisição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15025" y="7321644"/>
            <a:ext cx="2696366" cy="470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3"/>
              </a:lnSpc>
              <a:spcBef>
                <a:spcPct val="0"/>
              </a:spcBef>
            </a:pPr>
            <a:r>
              <a:rPr lang="en-US" sz="3303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COBIT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95817" y="6864662"/>
            <a:ext cx="2696366" cy="1384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3"/>
              </a:lnSpc>
            </a:pPr>
            <a:r>
              <a:rPr lang="en-US" sz="3303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ISO/IEC 38500</a:t>
            </a:r>
          </a:p>
          <a:p>
            <a:pPr marL="0" lvl="0" indent="0" algn="ctr">
              <a:lnSpc>
                <a:spcPts val="3633"/>
              </a:lnSpc>
              <a:spcBef>
                <a:spcPct val="0"/>
              </a:spcBef>
            </a:pPr>
            <a:endParaRPr lang="en-US" sz="3303" b="1">
              <a:solidFill>
                <a:srgbClr val="000000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092932" y="7321644"/>
            <a:ext cx="2696366" cy="470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3"/>
              </a:lnSpc>
              <a:spcBef>
                <a:spcPct val="0"/>
              </a:spcBef>
            </a:pPr>
            <a:r>
              <a:rPr lang="en-US" sz="3303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LGPD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98526" y="4706635"/>
            <a:ext cx="8681313" cy="86813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434264"/>
            <a:ext cx="7584393" cy="7418473"/>
            <a:chOff x="0" y="0"/>
            <a:chExt cx="830979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30979" cy="812800"/>
            </a:xfrm>
            <a:custGeom>
              <a:avLst/>
              <a:gdLst/>
              <a:ahLst/>
              <a:cxnLst/>
              <a:rect l="l" t="t" r="r" b="b"/>
              <a:pathLst>
                <a:path w="830979" h="812800">
                  <a:moveTo>
                    <a:pt x="0" y="0"/>
                  </a:moveTo>
                  <a:lnTo>
                    <a:pt x="830979" y="0"/>
                  </a:lnTo>
                  <a:lnTo>
                    <a:pt x="83097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830979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70265" y="4252350"/>
            <a:ext cx="7101263" cy="109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9"/>
              </a:lnSpc>
              <a:spcBef>
                <a:spcPct val="0"/>
              </a:spcBef>
            </a:pPr>
            <a:r>
              <a:rPr lang="en-US" sz="3935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MÉTRICAS E INDICADORES DE DESEMPENHO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776212" y="-1962461"/>
            <a:ext cx="3924921" cy="392492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38125" cap="sq">
              <a:solidFill>
                <a:srgbClr val="FFBF08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555019" y="2846196"/>
            <a:ext cx="5538194" cy="1204890"/>
            <a:chOff x="0" y="0"/>
            <a:chExt cx="373598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35980" cy="812800"/>
            </a:xfrm>
            <a:custGeom>
              <a:avLst/>
              <a:gdLst/>
              <a:ahLst/>
              <a:cxnLst/>
              <a:rect l="l" t="t" r="r" b="b"/>
              <a:pathLst>
                <a:path w="3735980" h="812800">
                  <a:moveTo>
                    <a:pt x="0" y="0"/>
                  </a:moveTo>
                  <a:lnTo>
                    <a:pt x="3735980" y="0"/>
                  </a:lnTo>
                  <a:lnTo>
                    <a:pt x="37359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373598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575408" y="3309642"/>
            <a:ext cx="5517805" cy="39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735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SLA DE RESPOSTA AO SINISTRO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555019" y="4539869"/>
            <a:ext cx="5538194" cy="1204890"/>
            <a:chOff x="0" y="0"/>
            <a:chExt cx="373598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35980" cy="812800"/>
            </a:xfrm>
            <a:custGeom>
              <a:avLst/>
              <a:gdLst/>
              <a:ahLst/>
              <a:cxnLst/>
              <a:rect l="l" t="t" r="r" b="b"/>
              <a:pathLst>
                <a:path w="3735980" h="812800">
                  <a:moveTo>
                    <a:pt x="0" y="0"/>
                  </a:moveTo>
                  <a:lnTo>
                    <a:pt x="3735980" y="0"/>
                  </a:lnTo>
                  <a:lnTo>
                    <a:pt x="37359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373598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575408" y="4955965"/>
            <a:ext cx="5517805" cy="39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735" b="1">
                <a:solidFill>
                  <a:srgbClr val="F8F8F8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SATISFAÇÃO DO CLIENTE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555019" y="6235915"/>
            <a:ext cx="5538194" cy="1204890"/>
            <a:chOff x="0" y="0"/>
            <a:chExt cx="373598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35980" cy="812800"/>
            </a:xfrm>
            <a:custGeom>
              <a:avLst/>
              <a:gdLst/>
              <a:ahLst/>
              <a:cxnLst/>
              <a:rect l="l" t="t" r="r" b="b"/>
              <a:pathLst>
                <a:path w="3735980" h="812800">
                  <a:moveTo>
                    <a:pt x="0" y="0"/>
                  </a:moveTo>
                  <a:lnTo>
                    <a:pt x="3735980" y="0"/>
                  </a:lnTo>
                  <a:lnTo>
                    <a:pt x="37359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373598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575408" y="6650824"/>
            <a:ext cx="5517805" cy="39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735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DESEMPENHO DO SISTEMA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555019" y="7926579"/>
            <a:ext cx="5538194" cy="1204890"/>
            <a:chOff x="0" y="0"/>
            <a:chExt cx="373598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5980" cy="812800"/>
            </a:xfrm>
            <a:custGeom>
              <a:avLst/>
              <a:gdLst/>
              <a:ahLst/>
              <a:cxnLst/>
              <a:rect l="l" t="t" r="r" b="b"/>
              <a:pathLst>
                <a:path w="3735980" h="812800">
                  <a:moveTo>
                    <a:pt x="0" y="0"/>
                  </a:moveTo>
                  <a:lnTo>
                    <a:pt x="3735980" y="0"/>
                  </a:lnTo>
                  <a:lnTo>
                    <a:pt x="37359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373598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575408" y="8153459"/>
            <a:ext cx="5517805" cy="772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735" b="1">
                <a:solidFill>
                  <a:srgbClr val="F8F8F8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EFETIVIDADE NA GESTÃO DE RISCOS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98526" y="4706635"/>
            <a:ext cx="8681313" cy="86813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434264"/>
            <a:ext cx="7584393" cy="7418473"/>
            <a:chOff x="0" y="0"/>
            <a:chExt cx="830979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30979" cy="812800"/>
            </a:xfrm>
            <a:custGeom>
              <a:avLst/>
              <a:gdLst/>
              <a:ahLst/>
              <a:cxnLst/>
              <a:rect l="l" t="t" r="r" b="b"/>
              <a:pathLst>
                <a:path w="830979" h="812800">
                  <a:moveTo>
                    <a:pt x="0" y="0"/>
                  </a:moveTo>
                  <a:lnTo>
                    <a:pt x="830979" y="0"/>
                  </a:lnTo>
                  <a:lnTo>
                    <a:pt x="83097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830979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70265" y="3980888"/>
            <a:ext cx="7101263" cy="164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9"/>
              </a:lnSpc>
              <a:spcBef>
                <a:spcPct val="0"/>
              </a:spcBef>
            </a:pPr>
            <a:r>
              <a:rPr lang="en-US" sz="3935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MONITORAMENTO E CONTROLE PREPARATÓRIO PARA AUDITORIA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776212" y="-1962461"/>
            <a:ext cx="3924921" cy="392492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38125" cap="sq">
              <a:solidFill>
                <a:srgbClr val="FFBF08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555019" y="2846196"/>
            <a:ext cx="5538194" cy="1204890"/>
            <a:chOff x="0" y="0"/>
            <a:chExt cx="373598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35980" cy="812800"/>
            </a:xfrm>
            <a:custGeom>
              <a:avLst/>
              <a:gdLst/>
              <a:ahLst/>
              <a:cxnLst/>
              <a:rect l="l" t="t" r="r" b="b"/>
              <a:pathLst>
                <a:path w="3735980" h="812800">
                  <a:moveTo>
                    <a:pt x="0" y="0"/>
                  </a:moveTo>
                  <a:lnTo>
                    <a:pt x="3735980" y="0"/>
                  </a:lnTo>
                  <a:lnTo>
                    <a:pt x="37359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373598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575408" y="3120426"/>
            <a:ext cx="5517805" cy="772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735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MANUAL DE AUDITORIA INTERNA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555019" y="4539869"/>
            <a:ext cx="5538194" cy="1204890"/>
            <a:chOff x="0" y="0"/>
            <a:chExt cx="373598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35980" cy="812800"/>
            </a:xfrm>
            <a:custGeom>
              <a:avLst/>
              <a:gdLst/>
              <a:ahLst/>
              <a:cxnLst/>
              <a:rect l="l" t="t" r="r" b="b"/>
              <a:pathLst>
                <a:path w="3735980" h="812800">
                  <a:moveTo>
                    <a:pt x="0" y="0"/>
                  </a:moveTo>
                  <a:lnTo>
                    <a:pt x="3735980" y="0"/>
                  </a:lnTo>
                  <a:lnTo>
                    <a:pt x="37359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373598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575408" y="4955965"/>
            <a:ext cx="5517805" cy="39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735" b="1">
                <a:solidFill>
                  <a:srgbClr val="F8F8F8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TESTES DE VUNERABILIDADE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555019" y="6235915"/>
            <a:ext cx="5538194" cy="1204890"/>
            <a:chOff x="0" y="0"/>
            <a:chExt cx="373598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35980" cy="812800"/>
            </a:xfrm>
            <a:custGeom>
              <a:avLst/>
              <a:gdLst/>
              <a:ahLst/>
              <a:cxnLst/>
              <a:rect l="l" t="t" r="r" b="b"/>
              <a:pathLst>
                <a:path w="3735980" h="812800">
                  <a:moveTo>
                    <a:pt x="0" y="0"/>
                  </a:moveTo>
                  <a:lnTo>
                    <a:pt x="3735980" y="0"/>
                  </a:lnTo>
                  <a:lnTo>
                    <a:pt x="37359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373598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575408" y="6650824"/>
            <a:ext cx="5517805" cy="39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735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ABNT NBR ISO/IEC 27001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555019" y="7926579"/>
            <a:ext cx="5538194" cy="1204890"/>
            <a:chOff x="0" y="0"/>
            <a:chExt cx="373598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5980" cy="812800"/>
            </a:xfrm>
            <a:custGeom>
              <a:avLst/>
              <a:gdLst/>
              <a:ahLst/>
              <a:cxnLst/>
              <a:rect l="l" t="t" r="r" b="b"/>
              <a:pathLst>
                <a:path w="3735980" h="812800">
                  <a:moveTo>
                    <a:pt x="0" y="0"/>
                  </a:moveTo>
                  <a:lnTo>
                    <a:pt x="3735980" y="0"/>
                  </a:lnTo>
                  <a:lnTo>
                    <a:pt x="37359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373598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575408" y="8342675"/>
            <a:ext cx="5517805" cy="39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8"/>
              </a:lnSpc>
              <a:spcBef>
                <a:spcPct val="0"/>
              </a:spcBef>
            </a:pPr>
            <a:r>
              <a:rPr lang="en-US" sz="2735" b="1">
                <a:solidFill>
                  <a:srgbClr val="F8F8F8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CICLO PDCA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30169" y="7407407"/>
            <a:ext cx="1224101" cy="122410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279072" y="1055420"/>
            <a:ext cx="1675774" cy="167577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856697" y="802843"/>
            <a:ext cx="8681313" cy="868131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593989" y="-907041"/>
            <a:ext cx="3924921" cy="392492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38125" cap="sq">
              <a:solidFill>
                <a:srgbClr val="FFBF08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43423" y="4097836"/>
            <a:ext cx="14531439" cy="1851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23"/>
              </a:lnSpc>
            </a:pPr>
            <a:r>
              <a:rPr lang="en-US" sz="13021" b="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</Words>
  <Application>Microsoft Macintosh PowerPoint</Application>
  <PresentationFormat>Personalizar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Roboto Slab</vt:lpstr>
      <vt:lpstr>Calibri</vt:lpstr>
      <vt:lpstr>Roboto Slab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eixo 8</dc:title>
  <cp:lastModifiedBy>Thainara Pereira Dias</cp:lastModifiedBy>
  <cp:revision>2</cp:revision>
  <dcterms:created xsi:type="dcterms:W3CDTF">2006-08-16T00:00:00Z</dcterms:created>
  <dcterms:modified xsi:type="dcterms:W3CDTF">2024-12-09T20:22:40Z</dcterms:modified>
  <dc:identifier>DAGXhN8W1fk</dc:identifier>
</cp:coreProperties>
</file>